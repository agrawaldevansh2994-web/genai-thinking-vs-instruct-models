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C7C2BB-2603-486B-8938-FD52BA793BF4}" v="349" dt="2026-10-09T09:13:42.694"/>
    <p1510:client id="{7A30471D-77D9-4137-9E66-278FE02ABA0F}" v="18" dt="2026-10-09T06:57:53.754"/>
    <p1510:client id="{EA4BBD44-B491-4811-90F5-59787CE43030}" v="1197" dt="2026-10-08T14:36:08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769B4"/>
            </a:solidFill>
            <a:ln>
              <a:solidFill>
                <a:srgbClr val="3769B4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DeepSeek-R1</c:v>
                </c:pt>
                <c:pt idx="1">
                  <c:v>GPT-4o mini</c:v>
                </c:pt>
                <c:pt idx="2">
                  <c:v>GPT-OSS-20B</c:v>
                </c:pt>
                <c:pt idx="3">
                  <c:v>o3-mini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89.58</c:v>
                </c:pt>
                <c:pt idx="1">
                  <c:v>94</c:v>
                </c:pt>
                <c:pt idx="2">
                  <c:v>92</c:v>
                </c:pt>
                <c:pt idx="3">
                  <c:v>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769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066-4488-A422-AAEFC0B43F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769B4"/>
            </a:solidFill>
            <a:ln>
              <a:solidFill>
                <a:srgbClr val="3769B4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DeepSeek-R1</c:v>
                </c:pt>
                <c:pt idx="1">
                  <c:v>GPT-4o mini</c:v>
                </c:pt>
                <c:pt idx="2">
                  <c:v>GPT-OSS-20B</c:v>
                </c:pt>
                <c:pt idx="3">
                  <c:v>o3-mini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92</c:v>
                </c:pt>
                <c:pt idx="2">
                  <c:v>96</c:v>
                </c:pt>
                <c:pt idx="3">
                  <c:v>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769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1EC-4866-B7CE-6E41821913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1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</c:v>
                </c:pt>
              </c:strCache>
            </c:strRef>
          </c:tx>
          <c:spPr>
            <a:solidFill>
              <a:srgbClr val="2A8985"/>
            </a:solidFill>
            <a:ln>
              <a:solidFill>
                <a:srgbClr val="2A8985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DeepSeek-R1</c:v>
                </c:pt>
                <c:pt idx="1">
                  <c:v>GPT-4o mini</c:v>
                </c:pt>
                <c:pt idx="2">
                  <c:v>GPT-OSS-20B</c:v>
                </c:pt>
                <c:pt idx="3">
                  <c:v>o3-mini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18.7</c:v>
                </c:pt>
                <c:pt idx="1">
                  <c:v>1.02</c:v>
                </c:pt>
                <c:pt idx="2">
                  <c:v>0.53</c:v>
                </c:pt>
                <c:pt idx="3">
                  <c:v>1.81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A898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F0E-47A3-9C07-696EA4DFC1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0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</c:v>
                </c:pt>
              </c:strCache>
            </c:strRef>
          </c:tx>
          <c:spPr>
            <a:solidFill>
              <a:srgbClr val="2A8985"/>
            </a:solidFill>
            <a:ln>
              <a:solidFill>
                <a:srgbClr val="2A8985"/>
              </a:solidFill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DeepSeek-R1</c:v>
                </c:pt>
                <c:pt idx="1">
                  <c:v>GPT-4o mini</c:v>
                </c:pt>
                <c:pt idx="2">
                  <c:v>GPT-OSS-20B</c:v>
                </c:pt>
                <c:pt idx="3">
                  <c:v>o3-mini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64.39</c:v>
                </c:pt>
                <c:pt idx="1">
                  <c:v>5.92</c:v>
                </c:pt>
                <c:pt idx="2">
                  <c:v>1.1100000000000001</c:v>
                </c:pt>
                <c:pt idx="3">
                  <c:v>3.33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A898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67E-4E02-B6D4-58BB89DEA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D029A-A0BA-4D9A-82FB-3A1D1899C47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265F1-561D-45B2-8B00-37E05087D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0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BF3A-077E-4409-9EE6-0194190A0543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EE38-67A6-4BC7-81E6-A5A97D5DB813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72B8-E7D6-4DDB-A0CB-087F6525D3E9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3EE72-5BB4-407F-B78F-1CF1BDF8AFF0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14A71-DF65-4717-AFEE-348F22403361}" type="datetime1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2F68-C027-4FE4-9BFD-2CF2E3A4578D}" type="datetime1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650A1-74D5-4CFD-B533-0C6AF80AE550}" type="datetime1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8E2EC-7C6C-4ECC-81EF-106634DB188E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1414C-0C43-4168-BE53-448AFC6364DB}" type="datetime1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1CE57-B843-43BA-95BB-A7344C90752B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EB37-317C-4B25-A3CE-68B9B747EBAF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47F25-B1B4-4149-AE7B-B816C86A1AB6}" type="datetime1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1044946"/>
            <a:ext cx="10972800" cy="29546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6600" b="1" dirty="0">
                <a:solidFill>
                  <a:schemeClr val="bg1"/>
                </a:solidFill>
                <a:latin typeface="Algerian"/>
              </a:rPr>
              <a:t>Thinking Models </a:t>
            </a:r>
            <a:endParaRPr lang="en-US" sz="6600" b="1">
              <a:solidFill>
                <a:schemeClr val="bg1"/>
              </a:solidFill>
              <a:latin typeface="Algerian"/>
            </a:endParaRPr>
          </a:p>
          <a:p>
            <a:pPr algn="ctr"/>
            <a:r>
              <a:rPr sz="5400" b="1" dirty="0">
                <a:solidFill>
                  <a:schemeClr val="bg1"/>
                </a:solidFill>
                <a:latin typeface="Algerian"/>
              </a:rPr>
              <a:t>vs </a:t>
            </a:r>
            <a:endParaRPr lang="en-US" sz="5400" b="1">
              <a:solidFill>
                <a:schemeClr val="bg1"/>
              </a:solidFill>
              <a:latin typeface="Algerian"/>
            </a:endParaRPr>
          </a:p>
          <a:p>
            <a:pPr algn="ctr"/>
            <a:r>
              <a:rPr sz="6600" b="1" dirty="0">
                <a:solidFill>
                  <a:schemeClr val="bg1"/>
                </a:solidFill>
                <a:latin typeface="Algerian"/>
              </a:rPr>
              <a:t>Instruct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3292" y="3993001"/>
            <a:ext cx="96012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2400" b="1" dirty="0">
                <a:solidFill>
                  <a:schemeClr val="bg1"/>
                </a:solidFill>
              </a:rPr>
              <a:t>A Practical Comparison Using Math, Coding and General Knowledge Tasks</a:t>
            </a:r>
            <a:endParaRPr lang="en-US" sz="24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6565392"/>
            <a:ext cx="73152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dirty="0">
                <a:solidFill>
                  <a:schemeClr val="bg1">
                    <a:lumMod val="95000"/>
                  </a:schemeClr>
                </a:solidFill>
              </a:rPr>
              <a:t>Thinking Models vs Instruct Models | </a:t>
            </a:r>
            <a:r>
              <a:rPr sz="900" b="0" dirty="0" err="1">
                <a:solidFill>
                  <a:schemeClr val="bg1">
                    <a:lumMod val="95000"/>
                  </a:schemeClr>
                </a:solidFill>
              </a:rPr>
              <a:t>ExcelR</a:t>
            </a:r>
            <a:r>
              <a:rPr sz="900" b="0" dirty="0">
                <a:solidFill>
                  <a:schemeClr val="bg1">
                    <a:lumMod val="95000"/>
                  </a:schemeClr>
                </a:solidFill>
              </a:rPr>
              <a:t> GenAI Project</a:t>
            </a:r>
            <a:endParaRPr lang="en-US" sz="900" b="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E78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25948-8CE3-5EE2-CF0E-EEB1B176C838}"/>
              </a:ext>
            </a:extLst>
          </p:cNvPr>
          <p:cNvSpPr txBox="1"/>
          <p:nvPr/>
        </p:nvSpPr>
        <p:spPr>
          <a:xfrm>
            <a:off x="7314891" y="4617959"/>
            <a:ext cx="4472779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GROUP 2</a:t>
            </a:r>
          </a:p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Proj</a:t>
            </a:r>
            <a:r>
              <a:rPr lang="en-GB" sz="20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ect Team –3 Members</a:t>
            </a:r>
          </a:p>
          <a:p>
            <a:r>
              <a:rPr lang="en-GB" sz="2000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                           * </a:t>
            </a:r>
            <a:r>
              <a:rPr lang="en-GB" sz="2000" b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 NUPUR SHARMA</a:t>
            </a:r>
          </a:p>
          <a:p>
            <a:r>
              <a:rPr lang="en-GB" sz="2000" b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                              * KARTHIK BETAGERI</a:t>
            </a:r>
          </a:p>
          <a:p>
            <a:r>
              <a:rPr lang="en-GB" sz="2000" b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                              * DEVANSH AGRAWAL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0A627-B489-7158-BC2A-A20C731A1411}"/>
              </a:ext>
            </a:extLst>
          </p:cNvPr>
          <p:cNvSpPr txBox="1"/>
          <p:nvPr/>
        </p:nvSpPr>
        <p:spPr>
          <a:xfrm>
            <a:off x="9875465" y="128470"/>
            <a:ext cx="20981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i="1">
                <a:solidFill>
                  <a:schemeClr val="accent6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GENERATIVE AI</a:t>
            </a:r>
            <a:endParaRPr lang="en-US" sz="2400" i="1">
              <a:solidFill>
                <a:schemeClr val="accent6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D2082-FD4A-48EB-4809-E4886A803F13}"/>
              </a:ext>
            </a:extLst>
          </p:cNvPr>
          <p:cNvSpPr txBox="1"/>
          <p:nvPr/>
        </p:nvSpPr>
        <p:spPr>
          <a:xfrm>
            <a:off x="639101" y="5882705"/>
            <a:ext cx="27530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DATE: 9th October,2026</a:t>
            </a:r>
            <a:endParaRPr lang="en-US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9184" y="155391"/>
            <a:ext cx="111556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800" b="1">
                <a:solidFill>
                  <a:srgbClr val="192A46"/>
                </a:solidFill>
              </a:rPr>
              <a:t>Models &amp; Evaluation Methodology</a:t>
            </a:r>
            <a:endParaRPr lang="en-US" sz="28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7861" y="675276"/>
            <a:ext cx="1088136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>
                <a:solidFill>
                  <a:schemeClr val="tx2">
                    <a:lumMod val="49000"/>
                  </a:schemeClr>
                </a:solidFill>
              </a:rPr>
              <a:t>Four models • three tasks • common performance metrics</a:t>
            </a:r>
            <a:endParaRPr lang="en-US" sz="16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103797"/>
              </p:ext>
            </p:extLst>
          </p:nvPr>
        </p:nvGraphicFramePr>
        <p:xfrm>
          <a:off x="579983" y="1378214"/>
          <a:ext cx="466344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DeepSeek-R1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Thinking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o3-mini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Thinking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GPT-4o 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GPT-OSS-20B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Instruct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577840" y="1234440"/>
            <a:ext cx="2743200" cy="1874519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77840" y="1234440"/>
            <a:ext cx="73152" cy="1874519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79007" y="1380744"/>
            <a:ext cx="242316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rgbClr val="192A46"/>
                </a:solidFill>
              </a:rPr>
              <a:t>TASKS</a:t>
            </a:r>
            <a:endParaRPr lang="en-US" sz="20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79007" y="1764792"/>
            <a:ext cx="242316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dirty="0">
                <a:solidFill>
                  <a:srgbClr val="2D323A"/>
                </a:solidFill>
              </a:rPr>
              <a:t>GSM8K — Math
</a:t>
            </a:r>
            <a:r>
              <a:rPr sz="1600" b="0" dirty="0" err="1">
                <a:solidFill>
                  <a:srgbClr val="2D323A"/>
                </a:solidFill>
              </a:rPr>
              <a:t>HumanEval</a:t>
            </a:r>
            <a:r>
              <a:rPr sz="1600" b="0" dirty="0">
                <a:solidFill>
                  <a:srgbClr val="2D323A"/>
                </a:solidFill>
              </a:rPr>
              <a:t> — Coding
General Knowledge</a:t>
            </a:r>
            <a:endParaRPr lang="en-US" sz="16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49640" y="1234440"/>
            <a:ext cx="2971800" cy="1874519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49640" y="1234440"/>
            <a:ext cx="73152" cy="1874519"/>
          </a:xfrm>
          <a:prstGeom prst="rect">
            <a:avLst/>
          </a:prstGeom>
          <a:solidFill>
            <a:srgbClr val="7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0808" y="1380744"/>
            <a:ext cx="265176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rgbClr val="192A46"/>
                </a:solidFill>
              </a:rPr>
              <a:t>METRICS</a:t>
            </a:r>
            <a:endParaRPr lang="en-US" sz="20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50808" y="1764792"/>
            <a:ext cx="2651760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dirty="0">
                <a:solidFill>
                  <a:srgbClr val="2D323A"/>
                </a:solidFill>
              </a:rPr>
              <a:t>Accuracy
</a:t>
            </a:r>
            <a:r>
              <a:rPr sz="1600" b="0">
                <a:solidFill>
                  <a:srgbClr val="2D323A"/>
                </a:solidFill>
              </a:rPr>
              <a:t>Average response time</a:t>
            </a:r>
            <a:r>
              <a:rPr sz="1600" b="0" dirty="0">
                <a:solidFill>
                  <a:srgbClr val="2D323A"/>
                </a:solidFill>
              </a:rPr>
              <a:t>
</a:t>
            </a:r>
            <a:r>
              <a:rPr sz="1600" b="0">
                <a:solidFill>
                  <a:srgbClr val="2D323A"/>
                </a:solidFill>
              </a:rPr>
              <a:t>Quality / Quality Proxy</a:t>
            </a:r>
            <a:r>
              <a:rPr sz="1600" b="0" dirty="0">
                <a:solidFill>
                  <a:srgbClr val="2D323A"/>
                </a:solidFill>
              </a:rPr>
              <a:t>
</a:t>
            </a:r>
            <a:r>
              <a:rPr sz="1600" b="0">
                <a:solidFill>
                  <a:srgbClr val="2D323A"/>
                </a:solidFill>
              </a:rPr>
              <a:t>Observable reasoning style</a:t>
            </a:r>
            <a:endParaRPr lang="en-US" sz="16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92A46"/>
                </a:solidFill>
              </a:rPr>
              <a:t>Evaluation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77639"/>
            <a:ext cx="20116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977639"/>
            <a:ext cx="73152" cy="96012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123944"/>
            <a:ext cx="169164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4 Models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4128" y="4407350"/>
            <a:ext cx="169164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>
                <a:solidFill>
                  <a:srgbClr val="2D323A"/>
                </a:solidFill>
              </a:rPr>
              <a:t>Same evaluation framework</a:t>
            </a:r>
            <a:endParaRPr lang="en-US" sz="14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337560" y="3977639"/>
            <a:ext cx="20116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37560" y="3977639"/>
            <a:ext cx="73152" cy="960120"/>
          </a:xfrm>
          <a:prstGeom prst="rect">
            <a:avLst/>
          </a:prstGeom>
          <a:solidFill>
            <a:srgbClr val="2A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38728" y="4123944"/>
            <a:ext cx="169164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3 Tasks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38728" y="4421727"/>
            <a:ext cx="179228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>
                <a:solidFill>
                  <a:srgbClr val="2D323A"/>
                </a:solidFill>
              </a:rPr>
              <a:t>Same evaluation framework</a:t>
            </a:r>
            <a:endParaRPr lang="en-US" sz="14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852160" y="3977639"/>
            <a:ext cx="20116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52160" y="3977639"/>
            <a:ext cx="73152" cy="960120"/>
          </a:xfrm>
          <a:prstGeom prst="rect">
            <a:avLst/>
          </a:prstGeom>
          <a:solidFill>
            <a:srgbClr val="E2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53328" y="4123944"/>
            <a:ext cx="169164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Metrics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38951" y="4407350"/>
            <a:ext cx="169164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>
                <a:solidFill>
                  <a:srgbClr val="2D323A"/>
                </a:solidFill>
              </a:rPr>
              <a:t>Same evaluation framework</a:t>
            </a:r>
            <a:endParaRPr lang="en-US" sz="14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366760" y="3977639"/>
            <a:ext cx="20116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66760" y="3977639"/>
            <a:ext cx="73152" cy="960120"/>
          </a:xfrm>
          <a:prstGeom prst="rect">
            <a:avLst/>
          </a:prstGeom>
          <a:solidFill>
            <a:srgbClr val="7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67928" y="4123944"/>
            <a:ext cx="169164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Comparison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67928" y="4407350"/>
            <a:ext cx="169164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>
                <a:solidFill>
                  <a:srgbClr val="2D323A"/>
                </a:solidFill>
              </a:rPr>
              <a:t>Same evaluation framework</a:t>
            </a:r>
            <a:endParaRPr lang="en-US" sz="14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" y="5257800"/>
            <a:ext cx="102412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400" b="1">
                <a:solidFill>
                  <a:schemeClr val="tx2">
                    <a:lumMod val="49000"/>
                  </a:schemeClr>
                </a:solidFill>
              </a:rPr>
              <a:t>Note: GPT-OSS-20B was used as a free replacement for Llama-3.1 8B Instruct because Llama-3.1 8B Instruct was unavailable in the selected free/developer tier.</a:t>
            </a:r>
            <a:endParaRPr lang="en-US" sz="1400" b="1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78"/>
                </a:solidFill>
              </a:rPr>
              <a:t>Thinking Models vs Instruct Models | ExcelR GenAI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65392"/>
            <a:ext cx="45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solidFill>
                  <a:srgbClr val="696E78"/>
                </a:solidFill>
              </a:rPr>
              <a:t>2</a:t>
            </a:r>
            <a:endParaRPr sz="800" b="0" dirty="0">
              <a:solidFill>
                <a:srgbClr val="696E7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A46"/>
                </a:solidFill>
              </a:rPr>
              <a:t>GSM8K Accuracy — Mathematical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>
                <a:solidFill>
                  <a:schemeClr val="tx2">
                    <a:lumMod val="49000"/>
                  </a:schemeClr>
                </a:solidFill>
              </a:rPr>
              <a:t>50 questions evaluated; DeepSeek-R1 accuracy based on 48 successful responses</a:t>
            </a:r>
            <a:endParaRPr lang="en-US" sz="16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32588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417320"/>
            <a:ext cx="3749039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417320"/>
            <a:ext cx="73152" cy="1463040"/>
          </a:xfrm>
          <a:prstGeom prst="rect">
            <a:avLst/>
          </a:prstGeom>
          <a:solidFill>
            <a:srgbClr val="4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36408" y="1563624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chemeClr val="tx2">
                    <a:lumMod val="49000"/>
                  </a:schemeClr>
                </a:solidFill>
              </a:rPr>
              <a:t>WINNER</a:t>
            </a:r>
            <a:endParaRPr lang="en-US" sz="2000" b="1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36408" y="1947672"/>
            <a:ext cx="3428999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sz="1600" b="0">
                <a:solidFill>
                  <a:srgbClr val="2D323A"/>
                </a:solidFill>
              </a:rPr>
              <a:t>GPT-4o </a:t>
            </a:r>
            <a:r>
              <a:rPr lang="en-GB" sz="1600">
                <a:solidFill>
                  <a:srgbClr val="2D323A"/>
                </a:solidFill>
              </a:rPr>
              <a:t>mini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GB" sz="1600">
                <a:solidFill>
                  <a:srgbClr val="2D323A"/>
                </a:solidFill>
              </a:rPr>
              <a:t>94</a:t>
            </a:r>
            <a:r>
              <a:rPr sz="1600" b="0">
                <a:solidFill>
                  <a:srgbClr val="2D323A"/>
                </a:solidFill>
              </a:rPr>
              <a:t>% accuracy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35240" y="3063240"/>
            <a:ext cx="3749039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3063240"/>
            <a:ext cx="73152" cy="150876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50785" y="3252676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rgbClr val="192A46"/>
                </a:solidFill>
              </a:rPr>
              <a:t>KEY FINDING</a:t>
            </a:r>
            <a:endParaRPr lang="en-US" sz="20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36408" y="3593592"/>
            <a:ext cx="3428999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>
                <a:solidFill>
                  <a:schemeClr val="tx2">
                    <a:lumMod val="49000"/>
                  </a:schemeClr>
                </a:solidFill>
              </a:rPr>
              <a:t>The Thinking Model category did not automatically produce the highest mathematical accuracy.</a:t>
            </a:r>
            <a:endParaRPr lang="en-US" sz="14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35240" y="4754880"/>
            <a:ext cx="3749039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4754880"/>
            <a:ext cx="73152" cy="914400"/>
          </a:xfrm>
          <a:prstGeom prst="rect">
            <a:avLst/>
          </a:prstGeom>
          <a:solidFill>
            <a:srgbClr val="E2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4901184"/>
            <a:ext cx="3428999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rgbClr val="192A46"/>
                </a:solidFill>
              </a:rPr>
              <a:t>SCORECARD</a:t>
            </a:r>
            <a:endParaRPr lang="en-US" sz="20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36408" y="5285232"/>
            <a:ext cx="342899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>
                <a:solidFill>
                  <a:srgbClr val="2D323A"/>
                </a:solidFill>
              </a:rPr>
              <a:t>GSM8K Accuracy Scorecard</a:t>
            </a:r>
            <a:endParaRPr lang="en-US" sz="14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78"/>
                </a:solidFill>
              </a:rPr>
              <a:t>Thinking Models vs Instruct Models | ExcelR GenAI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E7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A46"/>
                </a:solidFill>
              </a:rPr>
              <a:t>HumanEval Accuracy — Coding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>
                <a:solidFill>
                  <a:schemeClr val="tx2">
                    <a:lumMod val="49000"/>
                  </a:schemeClr>
                </a:solidFill>
              </a:rPr>
              <a:t>25 selected coding problems; generated code checked for correctness and functionality</a:t>
            </a:r>
            <a:endParaRPr lang="en-US" sz="16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32588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417320"/>
            <a:ext cx="3749039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417320"/>
            <a:ext cx="73152" cy="1463040"/>
          </a:xfrm>
          <a:prstGeom prst="rect">
            <a:avLst/>
          </a:prstGeom>
          <a:solidFill>
            <a:srgbClr val="4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36408" y="1563624"/>
            <a:ext cx="3428999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WINNER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36408" y="1947672"/>
            <a:ext cx="342899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1400">
                <a:solidFill>
                  <a:srgbClr val="2D323A"/>
                </a:solidFill>
              </a:rPr>
              <a:t>GPT-OSS-20B</a:t>
            </a:r>
            <a:endParaRPr lang="en-US" sz="1400">
              <a:solidFill>
                <a:srgbClr val="2D323A"/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GB" sz="1400">
                <a:solidFill>
                  <a:srgbClr val="2D323A"/>
                </a:solidFill>
              </a:rPr>
              <a:t>96</a:t>
            </a:r>
            <a:r>
              <a:rPr sz="1400" b="0">
                <a:solidFill>
                  <a:srgbClr val="2D323A"/>
                </a:solidFill>
              </a:rPr>
              <a:t>% accuracy</a:t>
            </a:r>
            <a:endParaRPr lang="en-US" sz="14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35240" y="3063240"/>
            <a:ext cx="3749039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3063240"/>
            <a:ext cx="73152" cy="150876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36408" y="3209544"/>
            <a:ext cx="3428999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KEY FINDING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36408" y="3593592"/>
            <a:ext cx="3428999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dirty="0" err="1">
                <a:solidFill>
                  <a:srgbClr val="2D323A"/>
                </a:solidFill>
              </a:rPr>
              <a:t>HumanEval</a:t>
            </a:r>
            <a:r>
              <a:rPr sz="1400" b="0" dirty="0">
                <a:solidFill>
                  <a:srgbClr val="2D323A"/>
                </a:solidFill>
              </a:rPr>
              <a:t> showed the largest performance gap among the four models.</a:t>
            </a:r>
            <a:endParaRPr lang="en-US" sz="1400" b="0" dirty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35240" y="4754880"/>
            <a:ext cx="3749039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4754880"/>
            <a:ext cx="73152" cy="914400"/>
          </a:xfrm>
          <a:prstGeom prst="rect">
            <a:avLst/>
          </a:prstGeom>
          <a:solidFill>
            <a:srgbClr val="E2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4901184"/>
            <a:ext cx="3428999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SCORECARD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36408" y="5285232"/>
            <a:ext cx="3428999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dirty="0" err="1">
                <a:solidFill>
                  <a:srgbClr val="2D323A"/>
                </a:solidFill>
              </a:rPr>
              <a:t>HumanEval</a:t>
            </a:r>
            <a:r>
              <a:rPr sz="1400" b="0" dirty="0">
                <a:solidFill>
                  <a:srgbClr val="2D323A"/>
                </a:solidFill>
              </a:rPr>
              <a:t> Coding Scorecard</a:t>
            </a:r>
            <a:endParaRPr lang="en-US" sz="14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78"/>
                </a:solidFill>
              </a:rPr>
              <a:t>Thinking Models vs Instruct Models | ExcelR GenAI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E7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11556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800" b="1">
                <a:solidFill>
                  <a:srgbClr val="192A46"/>
                </a:solidFill>
              </a:rPr>
              <a:t>General Knowledge — Accuracy, Speed &amp; Quality</a:t>
            </a:r>
            <a:endParaRPr lang="en-US" sz="28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>
                <a:solidFill>
                  <a:schemeClr val="tx2">
                    <a:lumMod val="49000"/>
                  </a:schemeClr>
                </a:solidFill>
              </a:rPr>
              <a:t>50 questions; all four models achieved 100% accuracy</a:t>
            </a:r>
            <a:endParaRPr lang="en-US" sz="16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454146"/>
              </p:ext>
            </p:extLst>
          </p:nvPr>
        </p:nvGraphicFramePr>
        <p:xfrm>
          <a:off x="502920" y="1325880"/>
          <a:ext cx="66294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Avg. Time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Quality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DeepSeek-R1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18.70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GPT-4o mini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1.02 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GPT-OSS-20B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0.53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o3-mini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1.81 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06640" y="1143000"/>
          <a:ext cx="4160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3977639"/>
            <a:ext cx="530352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3977639"/>
            <a:ext cx="73152" cy="1234440"/>
          </a:xfrm>
          <a:prstGeom prst="rect">
            <a:avLst/>
          </a:prstGeom>
          <a:solidFill>
            <a:srgbClr val="2A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4123944"/>
            <a:ext cx="49834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KEY FINDING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" y="4507992"/>
            <a:ext cx="498348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>
                <a:solidFill>
                  <a:srgbClr val="2D323A"/>
                </a:solidFill>
              </a:rPr>
              <a:t>Because accuracy was identical, response time became the main differentiator.</a:t>
            </a:r>
            <a:endParaRPr lang="en-US" sz="12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30352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3977639"/>
            <a:ext cx="73152" cy="1234440"/>
          </a:xfrm>
          <a:prstGeom prst="rect">
            <a:avLst/>
          </a:prstGeom>
          <a:solidFill>
            <a:srgbClr val="4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4123944"/>
            <a:ext cx="49834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FASTEST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73368" y="4507992"/>
            <a:ext cx="498348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 dirty="0">
                <a:solidFill>
                  <a:schemeClr val="tx2">
                    <a:lumMod val="49000"/>
                  </a:schemeClr>
                </a:solidFill>
              </a:rPr>
              <a:t>GPT-OSS-20B — 0.53 </a:t>
            </a:r>
            <a:r>
              <a:rPr sz="1200" b="0" dirty="0" err="1">
                <a:solidFill>
                  <a:schemeClr val="tx2">
                    <a:lumMod val="49000"/>
                  </a:schemeClr>
                </a:solidFill>
              </a:rPr>
              <a:t>seconds</a:t>
            </a:r>
            <a:r>
              <a:rPr sz="1200" b="0" dirty="0">
                <a:solidFill>
                  <a:schemeClr val="tx2">
                    <a:lumMod val="49000"/>
                  </a:schemeClr>
                </a:solidFill>
              </a:rPr>
              <a:t> average</a:t>
            </a:r>
            <a:endParaRPr lang="en-US" sz="12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137714" y="5440680"/>
            <a:ext cx="5859925" cy="888405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08960" y="5440680"/>
            <a:ext cx="73152" cy="658368"/>
          </a:xfrm>
          <a:prstGeom prst="rect">
            <a:avLst/>
          </a:prstGeom>
          <a:solidFill>
            <a:srgbClr val="E2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0128" y="5586984"/>
            <a:ext cx="56692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SCORECARD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10128" y="5971032"/>
            <a:ext cx="566928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>
                <a:solidFill>
                  <a:srgbClr val="2D323A"/>
                </a:solidFill>
              </a:rPr>
              <a:t>General Knowledge Performance Scorecard</a:t>
            </a:r>
            <a:endParaRPr lang="en-US" sz="120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78"/>
                </a:solidFill>
              </a:rPr>
              <a:t>Thinking Models vs Instruct Models | ExcelR GenAI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E7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11556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800" b="1">
                <a:solidFill>
                  <a:srgbClr val="192A46"/>
                </a:solidFill>
              </a:rPr>
              <a:t>Response Time — Speed Comparison</a:t>
            </a:r>
            <a:endParaRPr lang="en-US" sz="28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dirty="0" err="1">
                <a:solidFill>
                  <a:schemeClr val="tx2">
                    <a:lumMod val="49000"/>
                  </a:schemeClr>
                </a:solidFill>
              </a:rPr>
              <a:t>HumanEval</a:t>
            </a:r>
            <a:r>
              <a:rPr sz="1400" dirty="0">
                <a:solidFill>
                  <a:schemeClr val="tx2">
                    <a:lumMod val="49000"/>
                  </a:schemeClr>
                </a:solidFill>
              </a:rPr>
              <a:t> average response time</a:t>
            </a:r>
            <a:endParaRPr lang="en-US" sz="140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280160"/>
          <a:ext cx="68580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417320"/>
            <a:ext cx="34290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63840" y="1417320"/>
            <a:ext cx="73152" cy="1417320"/>
          </a:xfrm>
          <a:prstGeom prst="rect">
            <a:avLst/>
          </a:prstGeom>
          <a:solidFill>
            <a:srgbClr val="4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65008" y="1563624"/>
            <a:ext cx="310896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rgbClr val="192A46"/>
                </a:solidFill>
              </a:rPr>
              <a:t>FASTEST</a:t>
            </a:r>
            <a:endParaRPr lang="en-US" sz="20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65008" y="1947672"/>
            <a:ext cx="31089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GB" sz="1400">
                <a:solidFill>
                  <a:schemeClr val="tx2">
                    <a:lumMod val="49000"/>
                  </a:schemeClr>
                </a:solidFill>
              </a:rPr>
              <a:t>GPT-OSS-20B</a:t>
            </a:r>
            <a:endParaRPr lang="en-US" sz="140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  <a:p>
            <a:pPr marL="171450" indent="-171450" algn="l">
              <a:buFont typeface="Arial"/>
              <a:buChar char="•"/>
            </a:pPr>
            <a:r>
              <a:rPr lang="en-GB" sz="1400">
                <a:solidFill>
                  <a:schemeClr val="tx2">
                    <a:lumMod val="49000"/>
                  </a:schemeClr>
                </a:solidFill>
              </a:rPr>
              <a:t>1.11</a:t>
            </a:r>
            <a:r>
              <a:rPr sz="1400" b="0">
                <a:solidFill>
                  <a:schemeClr val="tx2">
                    <a:lumMod val="49000"/>
                  </a:schemeClr>
                </a:solidFill>
              </a:rPr>
              <a:t> seconds</a:t>
            </a:r>
            <a:endParaRPr lang="en-US" sz="140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63840" y="3063240"/>
            <a:ext cx="34290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0" y="3063240"/>
            <a:ext cx="73152" cy="1417320"/>
          </a:xfrm>
          <a:prstGeom prst="rect">
            <a:avLst/>
          </a:prstGeom>
          <a:solidFill>
            <a:srgbClr val="C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65008" y="3209544"/>
            <a:ext cx="310896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rgbClr val="192A46"/>
                </a:solidFill>
              </a:rPr>
              <a:t>SLOWEST</a:t>
            </a:r>
            <a:endParaRPr lang="en-US" sz="20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65008" y="3607969"/>
            <a:ext cx="302269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GB" sz="1200">
                <a:solidFill>
                  <a:schemeClr val="tx2">
                    <a:lumMod val="49000"/>
                  </a:schemeClr>
                </a:solidFill>
              </a:rPr>
              <a:t>DeepSeek-R1</a:t>
            </a:r>
            <a:endParaRPr lang="en-US" sz="1200">
              <a:solidFill>
                <a:schemeClr val="tx2">
                  <a:lumMod val="49000"/>
                </a:schemeClr>
              </a:solidFill>
            </a:endParaRPr>
          </a:p>
          <a:p>
            <a:pPr marL="171450" indent="-171450" algn="l">
              <a:buFont typeface="Arial"/>
              <a:buChar char="•"/>
            </a:pPr>
            <a:r>
              <a:rPr lang="en-GB" sz="1200">
                <a:solidFill>
                  <a:schemeClr val="tx2">
                    <a:lumMod val="49000"/>
                  </a:schemeClr>
                </a:solidFill>
              </a:rPr>
              <a:t>64.39</a:t>
            </a:r>
            <a:r>
              <a:rPr sz="1200" b="0">
                <a:solidFill>
                  <a:schemeClr val="tx2">
                    <a:lumMod val="49000"/>
                  </a:schemeClr>
                </a:solidFill>
              </a:rPr>
              <a:t> seconds</a:t>
            </a:r>
            <a:endParaRPr lang="en-US" sz="12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63840" y="4709160"/>
            <a:ext cx="3429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4709160"/>
            <a:ext cx="73152" cy="914400"/>
          </a:xfrm>
          <a:prstGeom prst="rect">
            <a:avLst/>
          </a:prstGeom>
          <a:solidFill>
            <a:srgbClr val="E2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5008" y="4855464"/>
            <a:ext cx="310896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rgbClr val="192A46"/>
                </a:solidFill>
              </a:rPr>
              <a:t>SCORECARD</a:t>
            </a:r>
            <a:endParaRPr lang="en-US" sz="20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65008" y="5239512"/>
            <a:ext cx="310896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 dirty="0">
                <a:solidFill>
                  <a:schemeClr val="tx2">
                    <a:lumMod val="49000"/>
                  </a:schemeClr>
                </a:solidFill>
              </a:rPr>
              <a:t>Response Time Scorecard — </a:t>
            </a:r>
            <a:r>
              <a:rPr sz="1200" b="0" dirty="0" err="1">
                <a:solidFill>
                  <a:schemeClr val="tx2">
                    <a:lumMod val="49000"/>
                  </a:schemeClr>
                </a:solidFill>
              </a:rPr>
              <a:t>HumanEval</a:t>
            </a:r>
            <a:endParaRPr lang="en-US" sz="12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7315200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800" b="0" dirty="0"/>
              <a:t>Thinking Models vs Instruct Models | </a:t>
            </a:r>
            <a:r>
              <a:rPr sz="800" b="0" dirty="0" err="1"/>
              <a:t>ExcelR</a:t>
            </a:r>
            <a:r>
              <a:rPr sz="800" b="0" dirty="0"/>
              <a:t> GenAI Project</a:t>
            </a:r>
            <a:endParaRPr lang="en-US" sz="800" b="0" dirty="0"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E7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6053" y="169768"/>
            <a:ext cx="1115568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200" b="1">
                <a:solidFill>
                  <a:srgbClr val="192A46"/>
                </a:solidFill>
              </a:rPr>
              <a:t>Overall Model Comparison</a:t>
            </a:r>
            <a:endParaRPr lang="en-US" sz="32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7861" y="747162"/>
            <a:ext cx="1088136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/>
              <a:t>Task accuracy, speed and observable response style</a:t>
            </a:r>
            <a:endParaRPr lang="en-US" sz="1600" b="0">
              <a:ea typeface="Calibri"/>
              <a:cs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697739"/>
              </p:ext>
            </p:extLst>
          </p:nvPr>
        </p:nvGraphicFramePr>
        <p:xfrm>
          <a:off x="502920" y="1234440"/>
          <a:ext cx="111556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GSM8K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HumanEval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GK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Speed / Week 3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Response style</a:t>
                      </a:r>
                    </a:p>
                  </a:txBody>
                  <a:tcPr anchor="ctr">
                    <a:solidFill>
                      <a:srgbClr val="19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DeepSeek-R1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89.58%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Slowest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More detailed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o3-mini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24%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Moderate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More concise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GPT-4o 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GPT-OSS-20B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96%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Fastest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chemeClr val="tx2">
                              <a:lumMod val="49000"/>
                            </a:schemeClr>
                          </a:solidFill>
                        </a:rPr>
                        <a:t>Direct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70781" y="4877663"/>
            <a:ext cx="33832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4892040"/>
            <a:ext cx="73152" cy="96012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5038344"/>
            <a:ext cx="306324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BEST GSM8K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" y="5422392"/>
            <a:ext cx="306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>
                <a:solidFill>
                  <a:schemeClr val="tx2">
                    <a:lumMod val="49000"/>
                  </a:schemeClr>
                </a:solidFill>
              </a:rPr>
              <a:t>GPT-4o mini — 94%</a:t>
            </a:r>
            <a:endParaRPr lang="en-US" sz="12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4892040"/>
            <a:ext cx="33832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4892040"/>
            <a:ext cx="73152" cy="960120"/>
          </a:xfrm>
          <a:prstGeom prst="rect">
            <a:avLst/>
          </a:prstGeom>
          <a:solidFill>
            <a:srgbClr val="4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5038344"/>
            <a:ext cx="306324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BEST CODING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0288" y="5422392"/>
            <a:ext cx="306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>
                <a:solidFill>
                  <a:schemeClr val="tx2">
                    <a:lumMod val="49000"/>
                  </a:schemeClr>
                </a:solidFill>
              </a:rPr>
              <a:t>GPT-OSS-20B — 96%</a:t>
            </a:r>
            <a:endParaRPr lang="en-US" sz="12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92440" y="4892040"/>
            <a:ext cx="33832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4892040"/>
            <a:ext cx="73152" cy="960120"/>
          </a:xfrm>
          <a:prstGeom prst="rect">
            <a:avLst/>
          </a:prstGeom>
          <a:solidFill>
            <a:srgbClr val="7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5038344"/>
            <a:ext cx="306324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chemeClr val="tx2">
                    <a:lumMod val="49000"/>
                  </a:schemeClr>
                </a:solidFill>
              </a:rPr>
              <a:t>OVERALL</a:t>
            </a:r>
            <a:endParaRPr lang="en-US" sz="1600" b="1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93608" y="5422392"/>
            <a:ext cx="306324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>
                <a:solidFill>
                  <a:schemeClr val="tx2">
                    <a:lumMod val="49000"/>
                  </a:schemeClr>
                </a:solidFill>
              </a:rPr>
              <a:t>No single model wins every task</a:t>
            </a:r>
            <a:endParaRPr lang="en-US" sz="12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7315200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800" b="0" dirty="0"/>
              <a:t>Thinking Models vs Instruct Models | </a:t>
            </a:r>
            <a:r>
              <a:rPr sz="800" b="0" dirty="0" err="1"/>
              <a:t>ExcelR</a:t>
            </a:r>
            <a:r>
              <a:rPr sz="800" b="0" dirty="0"/>
              <a:t> GenAI Project</a:t>
            </a:r>
            <a:endParaRPr lang="en-US" sz="800" b="0" dirty="0"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E7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11556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800" b="1">
                <a:solidFill>
                  <a:srgbClr val="192A46"/>
                </a:solidFill>
              </a:rPr>
              <a:t>Thinking Models vs Instruct Models</a:t>
            </a:r>
            <a:endParaRPr lang="en-US" sz="28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>
                <a:solidFill>
                  <a:schemeClr val="tx2">
                    <a:lumMod val="49000"/>
                  </a:schemeClr>
                </a:solidFill>
              </a:rPr>
              <a:t>Observed response style and measured performance</a:t>
            </a:r>
            <a:endParaRPr lang="en-US" sz="16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166360" cy="35661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3566160"/>
          </a:xfrm>
          <a:prstGeom prst="rect">
            <a:avLst/>
          </a:prstGeom>
          <a:solidFill>
            <a:srgbClr val="2A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48463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400" b="1">
                <a:solidFill>
                  <a:srgbClr val="192A46"/>
                </a:solidFill>
              </a:rPr>
              <a:t>THINKING MODELS</a:t>
            </a:r>
            <a:endParaRPr lang="en-US" sz="24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7" y="1856231"/>
            <a:ext cx="4846320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0" dirty="0">
                <a:solidFill>
                  <a:srgbClr val="2D323A"/>
                </a:solidFill>
              </a:rPr>
              <a:t>DeepSeek-R1 + o3-mini
• More reasoning-oriented response styles
• DeepSeek-R1: </a:t>
            </a:r>
            <a:r>
              <a:rPr lang="en-GB" dirty="0" err="1">
                <a:solidFill>
                  <a:srgbClr val="2D323A"/>
                </a:solidFill>
              </a:rPr>
              <a:t>generally</a:t>
            </a:r>
            <a:r>
              <a:rPr b="0" dirty="0" err="1">
                <a:solidFill>
                  <a:srgbClr val="2D323A"/>
                </a:solidFill>
              </a:rPr>
              <a:t> more detailed</a:t>
            </a:r>
            <a:r>
              <a:rPr b="0" dirty="0">
                <a:solidFill>
                  <a:srgbClr val="2D323A"/>
                </a:solidFill>
              </a:rPr>
              <a:t>
• o3-mini: </a:t>
            </a:r>
            <a:r>
              <a:rPr lang="en-GB" dirty="0" err="1">
                <a:solidFill>
                  <a:srgbClr val="2D323A"/>
                </a:solidFill>
              </a:rPr>
              <a:t>generally</a:t>
            </a:r>
            <a:r>
              <a:rPr b="0" dirty="0">
                <a:solidFill>
                  <a:srgbClr val="2D323A"/>
                </a:solidFill>
              </a:rPr>
              <a:t> more concise
• Performance varied by task
Useful when reasoning-oriented interaction or response style is important.</a:t>
            </a:r>
            <a:endParaRPr lang="en-US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166360" cy="35661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73152" cy="3566160"/>
          </a:xfrm>
          <a:prstGeom prst="rect">
            <a:avLst/>
          </a:prstGeom>
          <a:solidFill>
            <a:srgbClr val="E2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1472184"/>
            <a:ext cx="48463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400" b="1">
                <a:solidFill>
                  <a:srgbClr val="192A46"/>
                </a:solidFill>
              </a:rPr>
              <a:t>INSTRUCT MODELS</a:t>
            </a:r>
            <a:endParaRPr lang="en-US" sz="24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6248" y="1856231"/>
            <a:ext cx="4846320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0" dirty="0">
                <a:solidFill>
                  <a:srgbClr val="2D323A"/>
                </a:solidFill>
              </a:rPr>
              <a:t>GPT-4o mini + GPT-OSS-20B
• Strong practical accuracy in evaluated tasks
• Strong response speed in Week 3
• GPT-OSS-20B: fastest in </a:t>
            </a:r>
            <a:r>
              <a:rPr b="0" dirty="0" err="1">
                <a:solidFill>
                  <a:srgbClr val="2D323A"/>
                </a:solidFill>
              </a:rPr>
              <a:t>HumanEval</a:t>
            </a:r>
            <a:r>
              <a:rPr b="0" dirty="0">
                <a:solidFill>
                  <a:srgbClr val="2D323A"/>
                </a:solidFill>
              </a:rPr>
              <a:t> and GK
• GPT-4o mini: strongest general balance
Useful when direct, efficient task completion is the priority.</a:t>
            </a:r>
            <a:endParaRPr lang="en-US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525780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2A46"/>
                </a:solidFill>
              </a:rPr>
              <a:t>SCORECARD  •  Model-Type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15000"/>
            <a:ext cx="996696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400" b="0">
                <a:solidFill>
                  <a:schemeClr val="tx2">
                    <a:lumMod val="49000"/>
                  </a:schemeClr>
                </a:solidFill>
              </a:rPr>
              <a:t>The project does not show that one model type is universally better.</a:t>
            </a:r>
            <a:endParaRPr lang="en-US" sz="1400" b="0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6565392"/>
            <a:ext cx="7315200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800" b="0" dirty="0"/>
              <a:t>Thinking Models vs Instruct Models | </a:t>
            </a:r>
            <a:r>
              <a:rPr sz="800" b="0" dirty="0" err="1"/>
              <a:t>ExcelR</a:t>
            </a:r>
            <a:r>
              <a:rPr sz="800" b="0" dirty="0"/>
              <a:t> GenAI Project</a:t>
            </a:r>
            <a:endParaRPr lang="en-US" sz="800" b="0" dirty="0"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6E7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200559"/>
            <a:ext cx="1115568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dirty="0">
                <a:solidFill>
                  <a:srgbClr val="192A46"/>
                </a:solidFill>
              </a:rPr>
              <a:t>Thinking Models Response (Reasoning) Screenshots</a:t>
            </a:r>
          </a:p>
          <a:p>
            <a:pPr algn="l"/>
            <a:endParaRPr lang="en-US" sz="2800" b="1" dirty="0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/>
              <a:t>Bonus: Observable reasoning-style examples from </a:t>
            </a:r>
            <a:r>
              <a:rPr lang="en-US" sz="1400" dirty="0" err="1"/>
              <a:t>HumanEval</a:t>
            </a:r>
            <a:endParaRPr lang="en-US" sz="1400" dirty="0">
              <a:solidFill>
                <a:srgbClr val="696E7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8759" y="1325879"/>
            <a:ext cx="5688529" cy="4646705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3" y="1275771"/>
            <a:ext cx="124166" cy="4696813"/>
          </a:xfrm>
          <a:prstGeom prst="rect">
            <a:avLst/>
          </a:prstGeom>
          <a:solidFill>
            <a:srgbClr val="2A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1946" y="1283662"/>
            <a:ext cx="484632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 b="1" dirty="0">
                <a:solidFill>
                  <a:srgbClr val="192A46"/>
                </a:solidFill>
              </a:rPr>
              <a:t>DeepSeek-R1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5531389"/>
            <a:ext cx="48463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/>
              <a:t>More detailed reasoning-style response</a:t>
            </a:r>
            <a:endParaRPr lang="en-US" b="0" dirty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36207" y="1325880"/>
            <a:ext cx="5747245" cy="4646704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01454" y="1325880"/>
            <a:ext cx="134754" cy="4646704"/>
          </a:xfrm>
          <a:prstGeom prst="rect">
            <a:avLst/>
          </a:prstGeom>
          <a:solidFill>
            <a:srgbClr val="E2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6248" y="1290855"/>
            <a:ext cx="484632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 b="1" dirty="0">
                <a:solidFill>
                  <a:srgbClr val="192A46"/>
                </a:solidFill>
              </a:rPr>
              <a:t>o3-mini</a:t>
            </a:r>
            <a:endParaRPr lang="en-US" sz="2000" b="1" dirty="0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6248" y="5487766"/>
            <a:ext cx="48463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/>
              <a:t>More concise reasoning-style response</a:t>
            </a:r>
            <a:endParaRPr lang="en-US" b="0" dirty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6093690"/>
            <a:ext cx="10881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500" b="1" dirty="0">
                <a:solidFill>
                  <a:srgbClr val="192A46"/>
                </a:solidFill>
              </a:rPr>
              <a:t>Observation: DeepSeek-R1 produced a more detailed, step-by-step response, while o3-mini was comparatively concise.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6565392"/>
            <a:ext cx="7315200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800" b="0" dirty="0"/>
              <a:t>Thinking Models vs Instruct Models | </a:t>
            </a:r>
            <a:r>
              <a:rPr sz="800" b="0" dirty="0" err="1"/>
              <a:t>ExcelR</a:t>
            </a:r>
            <a:r>
              <a:rPr sz="800" b="0" dirty="0"/>
              <a:t> GenAI Project</a:t>
            </a:r>
            <a:endParaRPr lang="en-US" sz="800" b="0"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64240" y="6565392"/>
            <a:ext cx="45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solidFill>
                  <a:srgbClr val="696E78"/>
                </a:solidFill>
              </a:rPr>
              <a:t>9</a:t>
            </a:r>
            <a:endParaRPr sz="800" b="0" dirty="0">
              <a:solidFill>
                <a:srgbClr val="696E78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373" y="1677826"/>
            <a:ext cx="5507576" cy="194127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24" y="1690965"/>
            <a:ext cx="5482068" cy="192813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372" y="3619100"/>
            <a:ext cx="5507576" cy="186866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24" y="3619100"/>
            <a:ext cx="5482068" cy="186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92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A46"/>
                </a:solidFill>
              </a:rPr>
              <a:t>Which Model Should Be Used Where?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88136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0"/>
              <a:t>Recommendations derived from the measured results in this project</a:t>
            </a:r>
            <a:endParaRPr lang="en-US" sz="1200" b="0">
              <a:ea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49240" cy="1874519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874519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380744"/>
            <a:ext cx="50292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GPT-4o mini — GENERAL STUDENT CHATBOT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" y="1764792"/>
            <a:ext cx="50292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0" dirty="0">
                <a:solidFill>
                  <a:srgbClr val="2D323A"/>
                </a:solidFill>
              </a:rPr>
              <a:t>94% GSM8K • 92% </a:t>
            </a:r>
            <a:r>
              <a:rPr b="0" dirty="0" err="1">
                <a:solidFill>
                  <a:srgbClr val="2D323A"/>
                </a:solidFill>
              </a:rPr>
              <a:t>HumanEval</a:t>
            </a:r>
            <a:r>
              <a:rPr b="0" dirty="0">
                <a:solidFill>
                  <a:srgbClr val="2D323A"/>
                </a:solidFill>
              </a:rPr>
              <a:t> • 100% GK
Best balance of accuracy, quality and response time.</a:t>
            </a:r>
            <a:endParaRPr lang="en-US" b="0" dirty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49240" cy="1874519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73152" cy="1874519"/>
          </a:xfrm>
          <a:prstGeom prst="rect">
            <a:avLst/>
          </a:prstGeom>
          <a:solidFill>
            <a:srgbClr val="4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380744"/>
            <a:ext cx="50292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GPT-OSS-20B — CODING + SPEED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1764792"/>
            <a:ext cx="50292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0" dirty="0">
                <a:solidFill>
                  <a:srgbClr val="2D323A"/>
                </a:solidFill>
              </a:rPr>
              <a:t>96% </a:t>
            </a:r>
            <a:r>
              <a:rPr b="0" dirty="0" err="1">
                <a:solidFill>
                  <a:srgbClr val="2D323A"/>
                </a:solidFill>
              </a:rPr>
              <a:t>HumanEval</a:t>
            </a:r>
            <a:r>
              <a:rPr b="0" dirty="0">
                <a:solidFill>
                  <a:srgbClr val="2D323A"/>
                </a:solidFill>
              </a:rPr>
              <a:t> • 1.11 s </a:t>
            </a:r>
            <a:r>
              <a:rPr b="0" dirty="0" err="1">
                <a:solidFill>
                  <a:srgbClr val="2D323A"/>
                </a:solidFill>
              </a:rPr>
              <a:t>HumanEval</a:t>
            </a:r>
            <a:r>
              <a:rPr b="0" dirty="0">
                <a:solidFill>
                  <a:srgbClr val="2D323A"/>
                </a:solidFill>
              </a:rPr>
              <a:t> • 0.53 s GK
Strong choice when coding and fast responses matter.</a:t>
            </a:r>
            <a:endParaRPr lang="en-US" b="0" dirty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" y="3429000"/>
            <a:ext cx="5349240" cy="1874519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429000"/>
            <a:ext cx="73152" cy="1874519"/>
          </a:xfrm>
          <a:prstGeom prst="rect">
            <a:avLst/>
          </a:prstGeom>
          <a:solidFill>
            <a:srgbClr val="2A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575304"/>
            <a:ext cx="50292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DeepSeek-R1 — DETAILED REASONING STYLE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5528" y="3959352"/>
            <a:ext cx="50292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0" dirty="0" err="1">
                <a:solidFill>
                  <a:srgbClr val="2D323A"/>
                </a:solidFill>
              </a:rPr>
              <a:t>Generally</a:t>
            </a:r>
            <a:r>
              <a:rPr b="0" dirty="0">
                <a:solidFill>
                  <a:srgbClr val="2D323A"/>
                </a:solidFill>
              </a:rPr>
              <a:t> more detailed observable responses.
Useful when a detailed reasoning-oriented style is preferred; slower in this evaluation.</a:t>
            </a:r>
            <a:endParaRPr lang="en-US" b="0" dirty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5349240" cy="1874519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429000"/>
            <a:ext cx="73152" cy="1874519"/>
          </a:xfrm>
          <a:prstGeom prst="rect">
            <a:avLst/>
          </a:prstGeom>
          <a:solidFill>
            <a:srgbClr val="7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575304"/>
            <a:ext cx="50292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>
                <a:solidFill>
                  <a:srgbClr val="192A46"/>
                </a:solidFill>
              </a:rPr>
              <a:t>o3-mini — CONCISE RESPONSES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19088" y="3959352"/>
            <a:ext cx="50292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0" dirty="0" err="1">
                <a:solidFill>
                  <a:srgbClr val="2D323A"/>
                </a:solidFill>
              </a:rPr>
              <a:t>Generally</a:t>
            </a:r>
            <a:r>
              <a:rPr b="0" dirty="0">
                <a:solidFill>
                  <a:srgbClr val="2D323A"/>
                </a:solidFill>
              </a:rPr>
              <a:t> more concise responses.
Suitable when concise interaction is preferred, but </a:t>
            </a:r>
            <a:r>
              <a:rPr b="0" dirty="0" err="1">
                <a:solidFill>
                  <a:srgbClr val="2D323A"/>
                </a:solidFill>
              </a:rPr>
              <a:t>HumanEval</a:t>
            </a:r>
            <a:r>
              <a:rPr b="0" dirty="0">
                <a:solidFill>
                  <a:srgbClr val="2D323A"/>
                </a:solidFill>
              </a:rPr>
              <a:t> accuracy was 24% in this evaluation.</a:t>
            </a:r>
            <a:endParaRPr lang="en-US" b="0" dirty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20240" y="5715000"/>
            <a:ext cx="832104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600" b="1">
                <a:solidFill>
                  <a:srgbClr val="192A46"/>
                </a:solidFill>
              </a:rPr>
              <a:t>SCORECARD  •  Use-Case Recommendation</a:t>
            </a:r>
            <a:endParaRPr lang="en-US" sz="1600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565392"/>
            <a:ext cx="7315200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800" b="0" dirty="0"/>
              <a:t>Thinking Models vs Instruct Models | </a:t>
            </a:r>
            <a:r>
              <a:rPr sz="800" b="0" dirty="0" err="1"/>
              <a:t>ExcelR</a:t>
            </a:r>
            <a:r>
              <a:rPr sz="800" b="0" dirty="0"/>
              <a:t> GenAI Project</a:t>
            </a:r>
            <a:endParaRPr lang="en-US" sz="800" b="0" dirty="0">
              <a:ea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064240" y="6565392"/>
            <a:ext cx="45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solidFill>
                  <a:srgbClr val="696E78"/>
                </a:solidFill>
              </a:rPr>
              <a:t>10</a:t>
            </a:r>
            <a:endParaRPr sz="800" b="0" dirty="0">
              <a:solidFill>
                <a:srgbClr val="696E7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502920"/>
            <a:ext cx="10972800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4400" b="1">
                <a:solidFill>
                  <a:schemeClr val="tx2">
                    <a:lumMod val="49000"/>
                  </a:schemeClr>
                </a:solidFill>
              </a:rPr>
              <a:t>Conclusion</a:t>
            </a:r>
            <a:endParaRPr lang="en-US" sz="4400" b="1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97900" y="1484031"/>
            <a:ext cx="100584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2400" b="1">
                <a:solidFill>
                  <a:schemeClr val="tx2">
                    <a:lumMod val="49000"/>
                  </a:schemeClr>
                </a:solidFill>
              </a:rPr>
              <a:t>There is no single best model for every task.</a:t>
            </a:r>
            <a:endParaRPr lang="en-US" sz="2400" b="1">
              <a:solidFill>
                <a:schemeClr val="tx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99028" y="2444151"/>
            <a:ext cx="960120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700" b="0">
                <a:solidFill>
                  <a:srgbClr val="002060"/>
                </a:solidFill>
              </a:rPr>
              <a:t>Model selection should depend on the application's requirements for accuracy, speed, quality and response style.</a:t>
            </a:r>
            <a:endParaRPr lang="en-US" sz="1700" b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3429000"/>
            <a:ext cx="2606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73152" cy="1325880"/>
          </a:xfrm>
          <a:prstGeom prst="rect">
            <a:avLst/>
          </a:prstGeom>
          <a:solidFill>
            <a:srgbClr val="37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3575304"/>
            <a:ext cx="228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1">
                <a:solidFill>
                  <a:srgbClr val="192A46"/>
                </a:solidFill>
              </a:rPr>
              <a:t>GENERAL CHATBOT</a:t>
            </a:r>
            <a:endParaRPr lang="en-US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7" y="3959352"/>
            <a:ext cx="2286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>
                <a:solidFill>
                  <a:srgbClr val="2D323A"/>
                </a:solidFill>
              </a:rPr>
              <a:t>GPT-4o mini</a:t>
            </a:r>
            <a:endParaRPr lang="en-US" sz="16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29000" y="3429000"/>
            <a:ext cx="2606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3429000"/>
            <a:ext cx="73152" cy="1325880"/>
          </a:xfrm>
          <a:prstGeom prst="rect">
            <a:avLst/>
          </a:prstGeom>
          <a:solidFill>
            <a:srgbClr val="4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3575304"/>
            <a:ext cx="228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1">
                <a:solidFill>
                  <a:srgbClr val="192A46"/>
                </a:solidFill>
              </a:rPr>
              <a:t>CODING + SPEED</a:t>
            </a:r>
            <a:endParaRPr lang="en-US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30168" y="3959352"/>
            <a:ext cx="2286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>
                <a:solidFill>
                  <a:srgbClr val="2D323A"/>
                </a:solidFill>
              </a:rPr>
              <a:t>GPT-OSS-20B</a:t>
            </a:r>
            <a:endParaRPr lang="en-US" sz="16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3429000"/>
            <a:ext cx="2606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3429000"/>
            <a:ext cx="73152" cy="1325880"/>
          </a:xfrm>
          <a:prstGeom prst="rect">
            <a:avLst/>
          </a:prstGeom>
          <a:solidFill>
            <a:srgbClr val="2A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575304"/>
            <a:ext cx="228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1">
                <a:solidFill>
                  <a:srgbClr val="192A46"/>
                </a:solidFill>
              </a:rPr>
              <a:t>DETAILED STYLE</a:t>
            </a:r>
            <a:endParaRPr lang="en-US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19088" y="3959352"/>
            <a:ext cx="2286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>
                <a:solidFill>
                  <a:srgbClr val="2D323A"/>
                </a:solidFill>
              </a:rPr>
              <a:t>DeepSeek-R1</a:t>
            </a:r>
            <a:endParaRPr lang="en-US" sz="16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6840" y="3429000"/>
            <a:ext cx="2606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06840" y="3429000"/>
            <a:ext cx="73152" cy="1325880"/>
          </a:xfrm>
          <a:prstGeom prst="rect">
            <a:avLst/>
          </a:prstGeom>
          <a:solidFill>
            <a:srgbClr val="74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08008" y="3575304"/>
            <a:ext cx="228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b="1">
                <a:solidFill>
                  <a:srgbClr val="192A46"/>
                </a:solidFill>
              </a:rPr>
              <a:t>CONCISE STYLE</a:t>
            </a:r>
            <a:endParaRPr lang="en-US" b="1">
              <a:solidFill>
                <a:srgbClr val="192A46"/>
              </a:solidFill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08008" y="3959352"/>
            <a:ext cx="2286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>
                <a:solidFill>
                  <a:srgbClr val="2D323A"/>
                </a:solidFill>
              </a:rPr>
              <a:t>o3-mini</a:t>
            </a:r>
            <a:endParaRPr lang="en-US" sz="1600" b="0">
              <a:solidFill>
                <a:srgbClr val="2D323A"/>
              </a:solidFill>
              <a:ea typeface="Calibri"/>
              <a:cs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996696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b="1">
                <a:solidFill>
                  <a:schemeClr val="accent1">
                    <a:lumMod val="49000"/>
                  </a:schemeClr>
                </a:solidFill>
              </a:rPr>
              <a:t>For a general-purpose student chatbot, GPT-4o mini is the preferred choice in this project; GPT-OSS-20B is the strongest alternative for coding-focused, fast-response use cases.</a:t>
            </a:r>
            <a:endParaRPr lang="en-US" b="1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8800" y="6080760"/>
            <a:ext cx="850392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400" b="1">
                <a:solidFill>
                  <a:srgbClr val="002060"/>
                </a:solidFill>
              </a:rPr>
              <a:t>SCORECARD  •  Final Recommendation</a:t>
            </a:r>
            <a:endParaRPr lang="en-US" sz="1400" b="1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7315200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800" b="0" dirty="0"/>
              <a:t>Thinking Models vs Instruct Models | </a:t>
            </a:r>
            <a:r>
              <a:rPr sz="800" b="0" dirty="0" err="1"/>
              <a:t>ExcelR</a:t>
            </a:r>
            <a:r>
              <a:rPr sz="800" b="0" dirty="0"/>
              <a:t> GenAI Project</a:t>
            </a:r>
            <a:endParaRPr lang="en-US" sz="800" b="0" dirty="0">
              <a:ea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064240" y="6565392"/>
            <a:ext cx="45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solidFill>
                  <a:srgbClr val="696E78"/>
                </a:solidFill>
              </a:rPr>
              <a:t>11</a:t>
            </a:r>
            <a:endParaRPr sz="800" b="0" dirty="0">
              <a:solidFill>
                <a:srgbClr val="696E78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5D32D7-4CFC-21F4-C373-FA5BC6268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94" y="3594"/>
            <a:ext cx="2623867" cy="24369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834703" y="2039247"/>
            <a:ext cx="11087818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9600" b="1" dirty="0">
                <a:solidFill>
                  <a:schemeClr val="tx2">
                    <a:lumMod val="49000"/>
                  </a:schemeClr>
                </a:solidFill>
                <a:latin typeface="Algerian"/>
              </a:rPr>
              <a:t>THANK YOU</a:t>
            </a:r>
            <a:endParaRPr lang="en-US" sz="9600" b="1">
              <a:solidFill>
                <a:schemeClr val="tx2">
                  <a:lumMod val="49000"/>
                </a:schemeClr>
              </a:solidFill>
              <a:latin typeface="Algerian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96E78"/>
                </a:solidFill>
              </a:rPr>
              <a:t>Thinking Models vs Instruct Models | ExcelR GenAI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65392"/>
            <a:ext cx="45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dirty="0">
                <a:solidFill>
                  <a:srgbClr val="696E78"/>
                </a:solidFill>
              </a:rPr>
              <a:t>1</a:t>
            </a:r>
            <a:r>
              <a:rPr lang="en-US" sz="800" b="0" dirty="0">
                <a:solidFill>
                  <a:srgbClr val="696E78"/>
                </a:solidFill>
              </a:rPr>
              <a:t>2</a:t>
            </a:r>
            <a:endParaRPr sz="800" b="0" dirty="0">
              <a:solidFill>
                <a:srgbClr val="696E78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AF4D4-FB35-D735-3D7D-926CB92BCF28}"/>
              </a:ext>
            </a:extLst>
          </p:cNvPr>
          <p:cNvSpPr txBox="1"/>
          <p:nvPr/>
        </p:nvSpPr>
        <p:spPr>
          <a:xfrm>
            <a:off x="2898682" y="3894904"/>
            <a:ext cx="276372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>
                <a:solidFill>
                  <a:schemeClr val="tx2">
                    <a:lumMod val="49000"/>
                  </a:schemeClr>
                </a:solidFill>
                <a:ea typeface="Calibri"/>
                <a:cs typeface="Calibri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62732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895</Words>
  <Application>Microsoft Office PowerPoint</Application>
  <PresentationFormat>Widescreen</PresentationFormat>
  <Paragraphs>195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Karthik Betageri</dc:creator>
  <cp:keywords/>
  <dc:description>generated using python-pptx</dc:description>
  <cp:lastModifiedBy>Hp EliteBook 1030 G2</cp:lastModifiedBy>
  <cp:revision>447</cp:revision>
  <dcterms:created xsi:type="dcterms:W3CDTF">2013-01-27T09:14:16Z</dcterms:created>
  <dcterms:modified xsi:type="dcterms:W3CDTF">2026-10-09T09:14:16Z</dcterms:modified>
  <cp:category/>
</cp:coreProperties>
</file>